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69" r:id="rId6"/>
    <p:sldId id="260" r:id="rId7"/>
    <p:sldId id="279" r:id="rId8"/>
    <p:sldId id="261" r:id="rId9"/>
    <p:sldId id="262" r:id="rId10"/>
    <p:sldId id="263" r:id="rId11"/>
    <p:sldId id="270" r:id="rId12"/>
    <p:sldId id="277" r:id="rId13"/>
    <p:sldId id="264" r:id="rId14"/>
    <p:sldId id="271" r:id="rId15"/>
    <p:sldId id="272" r:id="rId16"/>
    <p:sldId id="273" r:id="rId17"/>
    <p:sldId id="274" r:id="rId18"/>
    <p:sldId id="275" r:id="rId19"/>
    <p:sldId id="276" r:id="rId20"/>
    <p:sldId id="265" r:id="rId21"/>
    <p:sldId id="266" r:id="rId22"/>
    <p:sldId id="267" r:id="rId23"/>
    <p:sldId id="278" r:id="rId24"/>
    <p:sldId id="26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6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0F40D-6EFD-2E33-0782-FD7074F0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B94C4-A8BA-19DD-774F-75D197DE0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0F53C-72A8-8C18-8CEC-757C43A1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9989B-0164-DE83-80A4-C55A78981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15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D346-AC1B-3574-EE44-97ED8959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56F74-10DF-28EC-2496-C3BAF6C24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D27E6-9077-D3FA-8F5B-C60AC7A9D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4E673-6168-FAB4-E4AB-9CEB69BB5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94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0997-20C2-5B71-A166-1330712D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8B8F6-A9FD-EF36-033F-BDC374339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A5FBB-5EBB-E18A-E1F4-2A829601E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C196B-D911-F81F-2E8D-9401181E6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8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F861-DA50-9ACC-DAFB-7C1961D3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47F36-97AD-0D14-67BB-9EC46D24F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78D08-9883-D016-DDEF-3282C7B68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55463-D097-87F3-A6A1-45F5B1CAA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7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E2B7-BEA5-044C-CB0C-191A49C7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4E5DD-F4C2-FED3-4B88-59A56EA5A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2EEDD-F4F0-BAC2-51E4-658B2BA6B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9567A-8F37-465E-6412-A8C349E7E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41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E643-C0F8-20C0-AEB7-1D8ACBEB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B875E-52DC-4F57-B327-468471C36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DF89C-E7C0-C7C7-1DB9-3C137F5DC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82BEE-CD34-019D-C34F-75AF45881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2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22106-56D0-1DEB-863C-E1AA5024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7C3A1-B777-FDEE-E30F-EC2966880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69756-ADEC-5C8C-2D1F-2D01177C6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7F76C-7B48-49FF-AF71-495931242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4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2F67-F424-3088-5AD3-782835D31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AE115-C797-6719-937F-64553EBC3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0FFD3-855F-FC92-B515-67F8DDC7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ACC53-FCD9-CF06-B950-B3343C62A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95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B81F34-B71D-9D9D-D60D-FB6B6853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"/>
            <a:ext cx="73152" cy="73152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20040"/>
            <a:ext cx="73152" cy="73152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0040"/>
            <a:ext cx="73152" cy="73152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320040"/>
            <a:ext cx="73152" cy="73152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20040"/>
            <a:ext cx="73152" cy="73152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400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0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GTU 2025–26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Stock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Prediction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Deep Learning  +  FinBERT Sentiment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502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2160" y="685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Patel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0" y="12070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251370680014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52160" y="19110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0" y="20939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Diploma in Data Science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52160" y="26151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52160" y="27980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Technological University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52160" y="33192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52160" y="3502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Upadhayay · Asst. Professor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52160" y="4023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216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&amp; Research Purposes Only · Not Financial Advice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73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32004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5720" cy="32004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258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change continuously due to market conditions, company performance, economic factors, and news. </a:t>
            </a:r>
          </a:p>
          <a:p>
            <a:pPr marL="0" indent="0">
              <a:buNone/>
            </a:pPr>
            <a:endParaRPr lang="en-US" sz="1200" dirty="0">
              <a:solidFill>
                <a:srgbClr val="D0DC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them accurately is one of the hardest problems in finance.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7173" y="1234440"/>
            <a:ext cx="2651760" cy="32004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45720" cy="3200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258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only on historical price data — ignoring financial news sentiment and investor emotions, which significantly impact stock movements.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32004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45720" cy="3200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3258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9632" y="16916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AI system combining LSTM deep learning for historical pattern recognition and FinBERT NLP for news sentiment — improving accuracy beyond either alone.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920240" cy="41148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Combined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4572000"/>
            <a:ext cx="1920240" cy="41148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 </a:t>
            </a: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4572000"/>
            <a:ext cx="1920240" cy="41148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Points Predicted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4572000"/>
            <a:ext cx="1920240" cy="41148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 </a:t>
            </a: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PROBLEM &amp;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" cy="3474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657600" cy="23862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are influenced by historical trends, investor behavior, financial news, and economic conditions.
</a:t>
            </a: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prediction systems only use historical data — ignoring the effect of financial news and market sentiment.
</a:t>
            </a: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analyzes both historical data AND news sentiment is needed for more accurate predictions.</a:t>
            </a: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9894" y="1143000"/>
            <a:ext cx="4023360" cy="347472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45720" cy="3474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Objectives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historical OHLC data from Yahoo Finance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analyze financial news headlines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sentiment analysis using </a:t>
            </a:r>
            <a:r>
              <a:rPr lang="en-US" sz="1200" dirty="0" err="1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stock prices using  LSTM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sentiment + market trends (Hybrid model)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prediction accuracy vs baseline models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A8D3B-FC2A-A01B-B70A-B0DFC77E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F33798-A314-A93B-7FFF-7733BA5D686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67DE54-0058-10FD-8858-E30FEF7DDC7D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ED1CBA-7F9A-3629-4337-93D50B86EB58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DATASET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799488-F87A-224F-9CC5-124E1786AE0B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3F5D1F-EBF9-1C6F-542E-AD323C49D871}"/>
              </a:ext>
            </a:extLst>
          </p:cNvPr>
          <p:cNvSpPr/>
          <p:nvPr/>
        </p:nvSpPr>
        <p:spPr>
          <a:xfrm>
            <a:off x="365760" y="1097280"/>
            <a:ext cx="4114800" cy="73152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264A30-A391-F9FC-4541-441DFF7A9176}"/>
              </a:ext>
            </a:extLst>
          </p:cNvPr>
          <p:cNvSpPr/>
          <p:nvPr/>
        </p:nvSpPr>
        <p:spPr>
          <a:xfrm>
            <a:off x="365760" y="1097280"/>
            <a:ext cx="45720" cy="731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2DBF08-CCD5-C27D-12D1-E134F3AC3E93}"/>
              </a:ext>
            </a:extLst>
          </p:cNvPr>
          <p:cNvSpPr/>
          <p:nvPr/>
        </p:nvSpPr>
        <p:spPr>
          <a:xfrm>
            <a:off x="54864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1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5A9621-B1AB-8F3E-DB53-10A5EC7BE696}"/>
              </a:ext>
            </a:extLst>
          </p:cNvPr>
          <p:cNvSpPr/>
          <p:nvPr/>
        </p:nvSpPr>
        <p:spPr>
          <a:xfrm>
            <a:off x="548640" y="1335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Yahoo Finance — Historical OHLC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1E9EAB-C9D3-E5BD-DD6A-1B76904DDB38}"/>
              </a:ext>
            </a:extLst>
          </p:cNvPr>
          <p:cNvSpPr/>
          <p:nvPr/>
        </p:nvSpPr>
        <p:spPr>
          <a:xfrm>
            <a:off x="548640" y="1572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Daily Data · HDFCBANK.NS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077466-4481-9843-A67C-3AEEAEA7D92D}"/>
              </a:ext>
            </a:extLst>
          </p:cNvPr>
          <p:cNvSpPr/>
          <p:nvPr/>
        </p:nvSpPr>
        <p:spPr>
          <a:xfrm>
            <a:off x="4846320" y="1097280"/>
            <a:ext cx="4114800" cy="73152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4D9A31-52AD-8FC3-5518-BEEF45B75EFC}"/>
              </a:ext>
            </a:extLst>
          </p:cNvPr>
          <p:cNvSpPr/>
          <p:nvPr/>
        </p:nvSpPr>
        <p:spPr>
          <a:xfrm>
            <a:off x="4846320" y="1097280"/>
            <a:ext cx="45720" cy="73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7779A3-5A77-AD19-C455-6AE82580AB67}"/>
              </a:ext>
            </a:extLst>
          </p:cNvPr>
          <p:cNvSpPr/>
          <p:nvPr/>
        </p:nvSpPr>
        <p:spPr>
          <a:xfrm>
            <a:off x="502920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2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50453C-0B10-7981-9084-4CA654A39775}"/>
              </a:ext>
            </a:extLst>
          </p:cNvPr>
          <p:cNvSpPr/>
          <p:nvPr/>
        </p:nvSpPr>
        <p:spPr>
          <a:xfrm>
            <a:off x="5029200" y="1335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News Headlines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8AEA5D-8BDE-1B4A-916D-BAF63EA2BD5D}"/>
              </a:ext>
            </a:extLst>
          </p:cNvPr>
          <p:cNvSpPr/>
          <p:nvPr/>
        </p:nvSpPr>
        <p:spPr>
          <a:xfrm>
            <a:off x="5029200" y="1572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Auto-fetched via yfinance · FinBERT labeled</a:t>
            </a:r>
            <a:endParaRPr lang="en-US" sz="10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1DF2A244-83CE-C5B5-C6E4-5C79E0F1B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215632"/>
              </p:ext>
            </p:extLst>
          </p:nvPr>
        </p:nvGraphicFramePr>
        <p:xfrm>
          <a:off x="365760" y="2011680"/>
          <a:ext cx="4114800" cy="2895601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price of the stock for the trading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trading price reached during the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trading price reached during the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price of the stock (primary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shares traded during the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score: Positive (+1), Neutral (0), Negative (−1)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84C3E75-27DF-A701-FBE2-285B1328F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48255"/>
            <a:ext cx="4114799" cy="285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9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PREPROCESSING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38404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472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downloads 5 years of daily OHLC data. MultiIndex columns flattened for clean processing.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4300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43000"/>
            <a:ext cx="384048" cy="2926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143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472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News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news headlines fetched automatically via yfinance Ticker API for the selected stock.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14300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143000"/>
            <a:ext cx="384048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143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1728" y="1472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FinBERT Sentiment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classifies each headline as Positive (+1), Neutral (0), or Negative (−1).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9984" y="114300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143000"/>
            <a:ext cx="38404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143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03136" y="1472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Missing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1737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null/NaN values checked and handled. Dataset validated before model input.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63240"/>
            <a:ext cx="38404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Sentiment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appended to all rows as the 5th column alongside OHLC features.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87168" y="306324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87168" y="3063240"/>
            <a:ext cx="384048" cy="2926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87168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MinMax Scaling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features normalized to [0, 1] using MinMaxScaler. Enables efficient LSTM learning.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08576" y="306324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3063240"/>
            <a:ext cx="384048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8576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Creation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81728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sliding windows create (samples, 60, 5) input tensors. Each window predicts next day OHLC.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29984" y="3063240"/>
            <a:ext cx="1965960" cy="1719072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9984" y="3063240"/>
            <a:ext cx="384048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9984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03136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03136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training (80%) and test sets (20%) for unbiased model evaluation and metric scoring.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" name="BadgeBg"/>
          <p:cNvSpPr/>
          <p:nvPr/>
        </p:nvSpPr>
        <p:spPr>
          <a:xfrm>
            <a:off x="457200" y="182880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</a:ln>
        </p:spPr>
      </p:sp>
      <p:sp>
        <p:nvSpPr>
          <p:cNvPr id="4" name="BadgeLabel"/>
          <p:cNvSpPr/>
          <p:nvPr/>
        </p:nvSpPr>
        <p:spPr>
          <a:xfrm>
            <a:off x="45720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11 · MODEL DEVELOPMENT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Model Development</a:t>
            </a:r>
          </a:p>
        </p:txBody>
      </p:sp>
      <p:sp>
        <p:nvSpPr>
          <p:cNvPr id="6" name="IntroText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The Hybrid Stock Price Prediction System consists of two main components combined to produce the final prediction.</a:t>
            </a:r>
          </a:p>
        </p:txBody>
      </p:sp>
      <p:sp>
        <p:nvSpPr>
          <p:cNvPr id="7" name="FinBERTBg"/>
          <p:cNvSpPr/>
          <p:nvPr/>
        </p:nvSpPr>
        <p:spPr>
          <a:xfrm>
            <a:off x="365760" y="1417320"/>
            <a:ext cx="3840480" cy="27432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FinBERTBorder"/>
          <p:cNvSpPr/>
          <p:nvPr/>
        </p:nvSpPr>
        <p:spPr>
          <a:xfrm>
            <a:off x="365760" y="1417320"/>
            <a:ext cx="45720" cy="27432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9" name="FinBERTHeader"/>
          <p:cNvSpPr/>
          <p:nvPr/>
        </p:nvSpPr>
        <p:spPr>
          <a:xfrm>
            <a:off x="548640" y="1463040"/>
            <a:ext cx="361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🧠  FinBERT Sentiment Analysis</a:t>
            </a:r>
          </a:p>
        </p:txBody>
      </p:sp>
      <p:sp>
        <p:nvSpPr>
          <p:cNvPr id="10" name="FinBERTDesc"/>
          <p:cNvSpPr/>
          <p:nvPr/>
        </p:nvSpPr>
        <p:spPr>
          <a:xfrm>
            <a:off x="548640" y="1828800"/>
            <a:ext cx="361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Extracts market sentiment from financial news headlines using a pre-trained BERT-based NLP model fine-tuned on financial text.</a:t>
            </a:r>
          </a:p>
        </p:txBody>
      </p:sp>
      <p:sp>
        <p:nvSpPr>
          <p:cNvPr id="11" name="FinBERTOutput"/>
          <p:cNvSpPr/>
          <p:nvPr/>
        </p:nvSpPr>
        <p:spPr>
          <a:xfrm>
            <a:off x="548640" y="2100960"/>
            <a:ext cx="361296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Output: Sentiment Score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Positive (+1)  ·  Neutral (0)  ·  Negative (−1)</a:t>
            </a:r>
          </a:p>
        </p:txBody>
      </p:sp>
      <p:sp>
        <p:nvSpPr>
          <p:cNvPr id="12" name="FinBERTFlow"/>
          <p:cNvSpPr/>
          <p:nvPr/>
        </p:nvSpPr>
        <p:spPr>
          <a:xfrm>
            <a:off x="548640" y="2695320"/>
            <a:ext cx="361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80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News Headline → Tokenization → BERT Layers → Sentiment Score</a:t>
            </a:r>
          </a:p>
        </p:txBody>
      </p:sp>
      <p:sp>
        <p:nvSpPr>
          <p:cNvPr id="13" name="LSTMBg"/>
          <p:cNvSpPr/>
          <p:nvPr/>
        </p:nvSpPr>
        <p:spPr>
          <a:xfrm>
            <a:off x="4434240" y="1417320"/>
            <a:ext cx="4344480" cy="27432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LSTMBorder"/>
          <p:cNvSpPr/>
          <p:nvPr/>
        </p:nvSpPr>
        <p:spPr>
          <a:xfrm>
            <a:off x="4434240" y="1417320"/>
            <a:ext cx="45720" cy="2743200"/>
          </a:xfrm>
          <a:prstGeom prst="rect">
            <a:avLst/>
          </a:prstGeom>
          <a:solidFill>
            <a:srgbClr val="F4B942"/>
          </a:solidFill>
        </p:spPr>
      </p:sp>
      <p:sp>
        <p:nvSpPr>
          <p:cNvPr id="15" name="LSTMHeader"/>
          <p:cNvSpPr/>
          <p:nvPr/>
        </p:nvSpPr>
        <p:spPr>
          <a:xfrm>
            <a:off x="4617120" y="1463040"/>
            <a:ext cx="411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📈  LSTM Prediction Model</a:t>
            </a:r>
          </a:p>
        </p:txBody>
      </p:sp>
      <p:sp>
        <p:nvSpPr>
          <p:cNvPr id="16" name="LSTMDesc"/>
          <p:cNvSpPr/>
          <p:nvPr/>
        </p:nvSpPr>
        <p:spPr>
          <a:xfrm>
            <a:off x="4617120" y="1828800"/>
            <a:ext cx="411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Learns historical stock price patterns from 60-day sequences and predicts future Open, High, Low, and Close prices.</a:t>
            </a:r>
          </a:p>
        </p:txBody>
      </p:sp>
      <p:sp>
        <p:nvSpPr>
          <p:cNvPr id="17" name="LSTMOutput"/>
          <p:cNvSpPr/>
          <p:nvPr/>
        </p:nvSpPr>
        <p:spPr>
          <a:xfrm>
            <a:off x="4617120" y="2100960"/>
            <a:ext cx="411552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F4B942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Output: Predicted OHLC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Open  ·  High  ·  Low  ·  Close (next trading day)</a:t>
            </a:r>
          </a:p>
        </p:txBody>
      </p:sp>
      <p:sp>
        <p:nvSpPr>
          <p:cNvPr id="18" name="LSTMFlow"/>
          <p:cNvSpPr/>
          <p:nvPr/>
        </p:nvSpPr>
        <p:spPr>
          <a:xfrm>
            <a:off x="4617120" y="2695320"/>
            <a:ext cx="411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80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60-day OHLC + Sentiment → LSTM Layer 1 → LSTM Layer 2 → Dense(4)</a:t>
            </a:r>
          </a:p>
        </p:txBody>
      </p:sp>
      <p:sp>
        <p:nvSpPr>
          <p:cNvPr id="19" name="CombineBg"/>
          <p:cNvSpPr/>
          <p:nvPr/>
        </p:nvSpPr>
        <p:spPr>
          <a:xfrm>
            <a:off x="365760" y="4297920"/>
            <a:ext cx="8412480" cy="457200"/>
          </a:xfrm>
          <a:prstGeom prst="rect">
            <a:avLst/>
          </a:prstGeom>
          <a:solidFill>
            <a:srgbClr val="112240"/>
          </a:solidFill>
          <a:ln w="9525">
            <a:solidFill>
              <a:srgbClr val="E74C3C">
                <a:alpha val="60000"/>
              </a:srgbClr>
            </a:solidFill>
          </a:ln>
        </p:spPr>
      </p:sp>
      <p:sp>
        <p:nvSpPr>
          <p:cNvPr id="20" name="CombineText"/>
          <p:cNvSpPr/>
          <p:nvPr/>
        </p:nvSpPr>
        <p:spPr>
          <a:xfrm>
            <a:off x="365760" y="4297920"/>
            <a:ext cx="8412480" cy="45720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⚡  Both outputs combined →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Final Prediction &amp; Market Direction Forecast (BUY / SELL / HOLD)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FINBERT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FinBERT — Sentiment Analysis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840480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5720" cy="3566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FinBERT?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42900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 err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Natural Language Processing  model , specially designed for financial text analysis.</a:t>
            </a:r>
            <a:r>
              <a:rPr lang="en-IN" sz="1100" dirty="0"/>
              <a:t> </a:t>
            </a: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It reads financial news headlines and classifies them into: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Positive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Neutral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Negative</a:t>
            </a:r>
          </a:p>
          <a:p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944368"/>
            <a:ext cx="1097280" cy="7772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36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801368" y="2944368"/>
            <a:ext cx="1097280" cy="7772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01368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NEUTRAL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1368" y="3236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008376" y="2944368"/>
            <a:ext cx="1097280" cy="7772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08376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08376" y="32369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>
                <a:solidFill>
                  <a:schemeClr val="bg2"/>
                </a:solidFill>
              </a:rPr>
              <a:t>Latest financial news related to the stock is collected automatically.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80560" y="1143000"/>
            <a:ext cx="4114800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FinBERT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645920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645920"/>
            <a:ext cx="45720" cy="3200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Headline Input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19110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21408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21408"/>
            <a:ext cx="45720" cy="3200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21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(WordPiece)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386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96896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96896"/>
            <a:ext cx="4572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968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Transformer Layers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8620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72384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072384"/>
            <a:ext cx="4572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0723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Fine-tuning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3375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547872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547872"/>
            <a:ext cx="4572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547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3813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023360"/>
            <a:ext cx="3931920" cy="32004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023360"/>
            <a:ext cx="4572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Output: +1 / 0 / −1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822A6DB-C202-CA8C-C000-BB810B92B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121664"/>
            <a:ext cx="4206240" cy="3831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LSTM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— Deep Learning Model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7190" y="1127421"/>
            <a:ext cx="4114800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5720" cy="3566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Short-Term Memory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74904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(Long Short-Term Memory)</a:t>
            </a: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100" dirty="0">
                <a:solidFill>
                  <a:schemeClr val="bg2"/>
                </a:solidFill>
              </a:rPr>
              <a:t>It is a Deep Learning model designed for time-series forecasting and sequential data analysis.</a:t>
            </a:r>
          </a:p>
          <a:p>
            <a:endParaRPr lang="en-US" sz="1100" dirty="0">
              <a:solidFill>
                <a:schemeClr val="bg2"/>
              </a:solidFill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LSTM learns patterns from historical stock prices and remembers important information from previous trading days.</a:t>
            </a:r>
          </a:p>
          <a:p>
            <a:endParaRPr lang="en-IN" sz="1100" dirty="0">
              <a:solidFill>
                <a:schemeClr val="bg2"/>
              </a:solidFill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In this project, the LSTM model </a:t>
            </a:r>
            <a:r>
              <a:rPr lang="en-IN" sz="1100" dirty="0" err="1">
                <a:solidFill>
                  <a:schemeClr val="bg2"/>
                </a:solidFill>
              </a:rPr>
              <a:t>analyzes</a:t>
            </a:r>
            <a:r>
              <a:rPr lang="en-IN" sz="1100" dirty="0">
                <a:solidFill>
                  <a:schemeClr val="bg2"/>
                </a:solidFill>
              </a:rPr>
              <a:t> the previous 60 days of stock market data and predicts future Open, High, Low, and Close prices.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Lookback Window: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trading days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721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Shape: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721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(samples, 60, 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9227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Features: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39227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Low, Close + Sentiment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41239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1422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0280" y="41208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738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7899" y="430513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Dense(4)  → Open, High, Low, Close  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3505199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691640"/>
            <a:ext cx="3314700" cy="402336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691640"/>
            <a:ext cx="45720" cy="40233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719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 (60 days × 5 features)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18928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(batch, 60, 5)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2029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1691640"/>
            <a:ext cx="48767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(batch, 60, 5)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2276856"/>
            <a:ext cx="3322319" cy="402336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276856"/>
            <a:ext cx="4572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304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Layer 1  — 50 units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74920" y="247802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29400" y="26151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26680" y="2276856"/>
            <a:ext cx="44195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92040" y="2862072"/>
            <a:ext cx="3276599" cy="402336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2862072"/>
            <a:ext cx="45720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28895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Layer 2  — 50 units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74920" y="3063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encoded repr.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2862072"/>
            <a:ext cx="3962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encoded repr.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3447288"/>
            <a:ext cx="3314700" cy="402336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3447288"/>
            <a:ext cx="45720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4747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Output  — 4 units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74920" y="364845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High · Low · Close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29400" y="37856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26680" y="3447288"/>
            <a:ext cx="4800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Hi Low · Close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92040" y="4032504"/>
            <a:ext cx="3322319" cy="402336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4032504"/>
            <a:ext cx="45720" cy="402336"/>
          </a:xfrm>
          <a:prstGeom prst="rect">
            <a:avLst/>
          </a:prstGeom>
          <a:solidFill>
            <a:srgbClr val="7B93B3"/>
          </a:solidFill>
          <a:ln w="12700">
            <a:solidFill>
              <a:srgbClr val="7B93B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40599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93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 MinMax Scaling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74920" y="42336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real prices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 flipH="1">
            <a:off x="7650478" y="4032504"/>
            <a:ext cx="7620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</a:t>
            </a:r>
            <a:endParaRPr lang="en-US" sz="8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BEC6AE1-F50E-37AA-6C9C-2121A5547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24128"/>
            <a:ext cx="357759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HYBRID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20040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Historical Stock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· 5-Year OHLC · MinMaxScaler · 60-day sequences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3200400" cy="548640"/>
          </a:xfrm>
          <a:prstGeom prst="rect">
            <a:avLst/>
          </a:prstGeom>
          <a:solidFill>
            <a:srgbClr val="008F74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Neural Network  (2 × 50 units)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3200400" cy="123444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11880"/>
            <a:ext cx="45720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 Financial News Headlines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Auto-fetched via yfinance · FinBERT Analysis · Score: +1 / 0 / −1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48006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3200400" cy="27432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FinBERT Sentiment Encoder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731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2743200"/>
            <a:ext cx="2011680" cy="914400"/>
          </a:xfrm>
          <a:prstGeom prst="rect">
            <a:avLst/>
          </a:prstGeom>
          <a:solidFill>
            <a:srgbClr val="00C9A7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HYBRID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3200400"/>
            <a:ext cx="5486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2377440"/>
            <a:ext cx="1920240" cy="201168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6858000" y="2377440"/>
            <a:ext cx="45720" cy="20116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423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Tomorrow OPEN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3008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Tomorrow HIGH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319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Tomorrow 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630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Tomorrow CLOSE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941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Direction: BUY / SELL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2D8F4-F4D4-3E85-EBAF-1F66E24F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488426-099B-B05A-6ECD-2238B1EC2E1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78250F-2B57-0465-FA16-901B9E90FABD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C99ACF-A274-EC06-35C3-2140338A5F6E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HYBRID ARCHITECTURE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EBF9A7-569F-0C66-CEAB-101766EC20D0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Model — Accuracy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FFC267-169F-57F5-1B8C-FA7BA98A0386}"/>
              </a:ext>
            </a:extLst>
          </p:cNvPr>
          <p:cNvSpPr/>
          <p:nvPr/>
        </p:nvSpPr>
        <p:spPr>
          <a:xfrm>
            <a:off x="365760" y="1143000"/>
            <a:ext cx="3200400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676332-94CD-C02B-CA4B-6AF3E5980CC8}"/>
              </a:ext>
            </a:extLst>
          </p:cNvPr>
          <p:cNvSpPr/>
          <p:nvPr/>
        </p:nvSpPr>
        <p:spPr>
          <a:xfrm>
            <a:off x="365760" y="1143000"/>
            <a:ext cx="45720" cy="1371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A35976-33EF-5D19-0C5E-5C9D88957356}"/>
              </a:ext>
            </a:extLst>
          </p:cNvPr>
          <p:cNvSpPr/>
          <p:nvPr/>
        </p:nvSpPr>
        <p:spPr>
          <a:xfrm>
            <a:off x="594360" y="1207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Historical Stock Data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2E0CF9-E7A3-DA98-6B78-E6D36FA2B2D1}"/>
              </a:ext>
            </a:extLst>
          </p:cNvPr>
          <p:cNvSpPr/>
          <p:nvPr/>
        </p:nvSpPr>
        <p:spPr>
          <a:xfrm>
            <a:off x="594360" y="14813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· 5-Year OHLC · MinMaxScaler · 60-day sequences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265B75-4878-9747-A4EA-8A93DB2DB252}"/>
              </a:ext>
            </a:extLst>
          </p:cNvPr>
          <p:cNvSpPr/>
          <p:nvPr/>
        </p:nvSpPr>
        <p:spPr>
          <a:xfrm>
            <a:off x="365760" y="2880360"/>
            <a:ext cx="3200400" cy="548640"/>
          </a:xfrm>
          <a:prstGeom prst="rect">
            <a:avLst/>
          </a:prstGeom>
          <a:solidFill>
            <a:srgbClr val="008F74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97B5F8-1818-0F1F-436F-F1418A8F7C62}"/>
              </a:ext>
            </a:extLst>
          </p:cNvPr>
          <p:cNvSpPr/>
          <p:nvPr/>
        </p:nvSpPr>
        <p:spPr>
          <a:xfrm>
            <a:off x="45720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Neural Network  (2 × 50 units)</a:t>
            </a: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6363FCD-45B3-880B-2A37-44602CC59DF0}"/>
              </a:ext>
            </a:extLst>
          </p:cNvPr>
          <p:cNvSpPr/>
          <p:nvPr/>
        </p:nvSpPr>
        <p:spPr>
          <a:xfrm>
            <a:off x="365760" y="3611880"/>
            <a:ext cx="3200400" cy="123444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176E214-5C60-8A55-C9F2-28BABEF4B3BE}"/>
              </a:ext>
            </a:extLst>
          </p:cNvPr>
          <p:cNvSpPr/>
          <p:nvPr/>
        </p:nvSpPr>
        <p:spPr>
          <a:xfrm>
            <a:off x="365760" y="3611880"/>
            <a:ext cx="45720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11FD9D-24FC-26D3-B614-B6F930B40D08}"/>
              </a:ext>
            </a:extLst>
          </p:cNvPr>
          <p:cNvSpPr/>
          <p:nvPr/>
        </p:nvSpPr>
        <p:spPr>
          <a:xfrm>
            <a:off x="59436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 Financial News Headlines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18F1887-DD39-32D4-E4B4-5091A4DB892A}"/>
              </a:ext>
            </a:extLst>
          </p:cNvPr>
          <p:cNvSpPr/>
          <p:nvPr/>
        </p:nvSpPr>
        <p:spPr>
          <a:xfrm>
            <a:off x="59436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Auto-fetched via yfinance · FinBERT Analysis · Score: +1 / 0 / −1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C856386-529B-E6F8-51C9-A41FBEB9169A}"/>
              </a:ext>
            </a:extLst>
          </p:cNvPr>
          <p:cNvSpPr/>
          <p:nvPr/>
        </p:nvSpPr>
        <p:spPr>
          <a:xfrm>
            <a:off x="1691640" y="48006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84DAE4D-A43C-CC04-CEB5-1832151018BC}"/>
              </a:ext>
            </a:extLst>
          </p:cNvPr>
          <p:cNvSpPr/>
          <p:nvPr/>
        </p:nvSpPr>
        <p:spPr>
          <a:xfrm>
            <a:off x="365760" y="4663440"/>
            <a:ext cx="3200400" cy="274320"/>
          </a:xfrm>
          <a:prstGeom prst="rect">
            <a:avLst/>
          </a:prstGeom>
          <a:solidFill>
            <a:srgbClr val="1B2E4A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5C8E2A-E583-72BE-5D6D-C72FCED7E5EE}"/>
              </a:ext>
            </a:extLst>
          </p:cNvPr>
          <p:cNvSpPr/>
          <p:nvPr/>
        </p:nvSpPr>
        <p:spPr>
          <a:xfrm>
            <a:off x="45720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FinBERT Sentiment Encoder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BCA4D3D-83A6-29A9-D83F-178D7872F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80" y="1143000"/>
            <a:ext cx="509778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7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" name="BadgeBg"/>
          <p:cNvSpPr/>
          <p:nvPr/>
        </p:nvSpPr>
        <p:spPr>
          <a:xfrm>
            <a:off x="457200" y="18288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</a:ln>
        </p:spPr>
      </p:sp>
      <p:sp>
        <p:nvSpPr>
          <p:cNvPr id="4" name="BadgeLabel"/>
          <p:cNvSpPr/>
          <p:nvPr/>
        </p:nvSpPr>
        <p:spPr>
          <a:xfrm>
            <a:off x="457200" y="182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</a:rPr>
              <a:t>07B · MODEL EVALUATION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</a:rPr>
              <a:t>Model Evaluation</a:t>
            </a:r>
          </a:p>
        </p:txBody>
      </p:sp>
      <p:sp>
        <p:nvSpPr>
          <p:cNvPr id="6" name="MetricsBg"/>
          <p:cNvSpPr/>
          <p:nvPr/>
        </p:nvSpPr>
        <p:spPr>
          <a:xfrm>
            <a:off x="365760" y="1234440"/>
            <a:ext cx="3886200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MetricsBorder"/>
          <p:cNvSpPr/>
          <p:nvPr/>
        </p:nvSpPr>
        <p:spPr>
          <a:xfrm>
            <a:off x="365760" y="1234440"/>
            <a:ext cx="45720" cy="356616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8" name="MetricsHeader"/>
          <p:cNvSpPr/>
          <p:nvPr/>
        </p:nvSpPr>
        <p:spPr>
          <a:xfrm>
            <a:off x="548640" y="1280160"/>
            <a:ext cx="361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</a:rPr>
              <a:t>📊  Evaluation Metrics Used</a:t>
            </a:r>
          </a:p>
        </p:txBody>
      </p:sp>
      <p:sp>
        <p:nvSpPr>
          <p:cNvPr id="9" name="MAEBox"/>
          <p:cNvSpPr/>
          <p:nvPr/>
        </p:nvSpPr>
        <p:spPr>
          <a:xfrm>
            <a:off x="548640" y="1680720"/>
            <a:ext cx="361296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</a:rPr>
              <a:t>MAE</a:t>
            </a: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  — Mean Absolute Error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Average absolute difference between predicted &amp; actual prices</a:t>
            </a:r>
          </a:p>
        </p:txBody>
      </p:sp>
      <p:sp>
        <p:nvSpPr>
          <p:cNvPr id="10" name="MSEBox"/>
          <p:cNvSpPr/>
          <p:nvPr/>
        </p:nvSpPr>
        <p:spPr>
          <a:xfrm>
            <a:off x="548640" y="2275560"/>
            <a:ext cx="361296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FFD166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</a:rPr>
              <a:t>MSE</a:t>
            </a: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  — Mean Squared Error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Penalizes larger errors more heavily than MAE</a:t>
            </a:r>
          </a:p>
        </p:txBody>
      </p:sp>
      <p:sp>
        <p:nvSpPr>
          <p:cNvPr id="11" name="RMSEBox"/>
          <p:cNvSpPr/>
          <p:nvPr/>
        </p:nvSpPr>
        <p:spPr>
          <a:xfrm>
            <a:off x="548640" y="2870400"/>
            <a:ext cx="361296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E74C3C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</a:rPr>
              <a:t>RMSE</a:t>
            </a: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  — Root Mean Squared Error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Square root of MSE — same unit as stock price</a:t>
            </a:r>
          </a:p>
        </p:txBody>
      </p:sp>
      <p:sp>
        <p:nvSpPr>
          <p:cNvPr id="12" name="R2Box"/>
          <p:cNvSpPr/>
          <p:nvPr/>
        </p:nvSpPr>
        <p:spPr>
          <a:xfrm>
            <a:off x="548640" y="3465240"/>
            <a:ext cx="361296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9B59B6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itchFamily="34" charset="0"/>
              </a:rPr>
              <a:t>R²</a:t>
            </a: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  — R-Squared Score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How well the model fits the data (1.0 = perfect fit)</a:t>
            </a:r>
          </a:p>
        </p:txBody>
      </p:sp>
      <p:sp>
        <p:nvSpPr>
          <p:cNvPr id="13" name="RightBg"/>
          <p:cNvSpPr/>
          <p:nvPr/>
        </p:nvSpPr>
        <p:spPr>
          <a:xfrm>
            <a:off x="4480560" y="1234440"/>
            <a:ext cx="4297680" cy="3566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RightBorder"/>
          <p:cNvSpPr/>
          <p:nvPr/>
        </p:nvSpPr>
        <p:spPr>
          <a:xfrm>
            <a:off x="4480560" y="1234440"/>
            <a:ext cx="45720" cy="356616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5" name="VizHeader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</a:rPr>
              <a:t>📈  Visualization Techniques</a:t>
            </a:r>
          </a:p>
        </p:txBody>
      </p:sp>
      <p:sp>
        <p:nvSpPr>
          <p:cNvPr id="16" name="Viz1"/>
          <p:cNvSpPr/>
          <p:nvPr/>
        </p:nvSpPr>
        <p:spPr>
          <a:xfrm>
            <a:off x="4663440" y="1680720"/>
            <a:ext cx="402336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FFD166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</a:rPr>
              <a:t>📉 Training Loss Graphs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Shows how model error reduces over each training epoch</a:t>
            </a:r>
          </a:p>
        </p:txBody>
      </p:sp>
      <p:sp>
        <p:nvSpPr>
          <p:cNvPr id="17" name="Viz2"/>
          <p:cNvSpPr/>
          <p:nvPr/>
        </p:nvSpPr>
        <p:spPr>
          <a:xfrm>
            <a:off x="4663440" y="2184840"/>
            <a:ext cx="402336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</a:rPr>
              <a:t>📊 Actual vs Predicted Price Graphs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Compares model predictions against real stock prices</a:t>
            </a:r>
          </a:p>
        </p:txBody>
      </p:sp>
      <p:sp>
        <p:nvSpPr>
          <p:cNvPr id="18" name="Viz3"/>
          <p:cNvSpPr/>
          <p:nvPr/>
        </p:nvSpPr>
        <p:spPr>
          <a:xfrm>
            <a:off x="4663440" y="2688960"/>
            <a:ext cx="402336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9B59B6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</a:rPr>
              <a:t>🥧 Sentiment Distribution Charts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Positive / Neutral / Negative news breakdown via FinBERT</a:t>
            </a:r>
          </a:p>
        </p:txBody>
      </p:sp>
      <p:sp>
        <p:nvSpPr>
          <p:cNvPr id="19" name="Viz4"/>
          <p:cNvSpPr/>
          <p:nvPr/>
        </p:nvSpPr>
        <p:spPr>
          <a:xfrm>
            <a:off x="4663440" y="3193080"/>
            <a:ext cx="402336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E74C3C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</a:rPr>
              <a:t>📆 Today vs Tomorrow Prediction Charts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8BA0B8"/>
                </a:solidFill>
                <a:latin typeface="Calibri" pitchFamily="34" charset="0"/>
              </a:rPr>
              <a:t>Side-by-side OHLC comparison for next trading day</a:t>
            </a:r>
          </a:p>
        </p:txBody>
      </p:sp>
      <p:sp>
        <p:nvSpPr>
          <p:cNvPr id="20" name="ConclusionBg"/>
          <p:cNvSpPr/>
          <p:nvPr/>
        </p:nvSpPr>
        <p:spPr>
          <a:xfrm>
            <a:off x="365760" y="4892400"/>
            <a:ext cx="8412480" cy="137160"/>
          </a:xfrm>
          <a:prstGeom prst="rect">
            <a:avLst/>
          </a:prstGeom>
          <a:solidFill>
            <a:srgbClr val="00C9A7">
              <a:alpha val="15000"/>
            </a:srgbClr>
          </a:solidFill>
          <a:ln w="9525">
            <a:solidFill>
              <a:srgbClr val="00C9A7">
                <a:alpha val="30000"/>
              </a:srgbClr>
            </a:solidFill>
          </a:ln>
        </p:spPr>
      </p:sp>
      <p:sp>
        <p:nvSpPr>
          <p:cNvPr id="21" name="ConclusionText"/>
          <p:cNvSpPr/>
          <p:nvPr/>
        </p:nvSpPr>
        <p:spPr>
          <a:xfrm>
            <a:off x="365760" y="4848840"/>
            <a:ext cx="8412480" cy="274320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</a:rPr>
              <a:t>★ Key Finding: </a:t>
            </a:r>
            <a:r>
              <a:rPr lang="en-US" sz="900" dirty="0">
                <a:solidFill>
                  <a:srgbClr val="D0DCF0"/>
                </a:solidFill>
                <a:latin typeface="Calibri" pitchFamily="34" charset="0"/>
              </a:rPr>
              <a:t>The Hybrid LSTM–FinBERT model successfully learned stock market patterns and generated reliable future price predictions by combining historical market trends and financial news sentiment.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Visualizations Produced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99339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Price Trend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9933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over 5 years — identifies trend direction and volatility.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78024" y="1207008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2487168" y="1188720"/>
            <a:ext cx="1993392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 Volume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19933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 bars — shows investor participation across the period.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18872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188720"/>
            <a:ext cx="1993392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81728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Average Chart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1728" y="19933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20/50-day MAs overlaid on price — highlights trend reversals.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29984" y="118872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188720"/>
            <a:ext cx="1993392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03136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Heatmap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03136" y="19933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 — Open/High/Low/Close relationships.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365760" y="2971800"/>
            <a:ext cx="1993392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38912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Distribution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37764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Positive / Neutral / Negative news proportions.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87168" y="297180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87168" y="2971800"/>
            <a:ext cx="199339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60320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Training Loss Curve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60320" y="37764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over 10 epochs — validates model convergence.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08576" y="297180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08576" y="2971800"/>
            <a:ext cx="1993392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681728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vs Tomorrow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81728" y="37764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OHLC bar chart comparing current and predicted prices.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29984" y="2971800"/>
            <a:ext cx="1993392" cy="157276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29984" y="2971800"/>
            <a:ext cx="1993392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03136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 Predicted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03136" y="37764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graph comparing real vs model-predicted Close prices on test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162F6-8314-D7FE-B710-D38BAE59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78B788-6BB0-0FC1-AC76-A3C6C3EFAC9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0FBC1F-2201-C6DC-4728-7AFB8A225FBC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780252-2BC7-9EE6-64FE-6774458031EC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CFB748-9C41-9930-0DCB-C92536EDF860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Price Trend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6371B1-F150-A805-05E9-F5F8D17A579D}"/>
              </a:ext>
            </a:extLst>
          </p:cNvPr>
          <p:cNvSpPr/>
          <p:nvPr/>
        </p:nvSpPr>
        <p:spPr>
          <a:xfrm>
            <a:off x="365760" y="1188720"/>
            <a:ext cx="2407920" cy="3041994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8B2ABF-2DEF-F7FF-0F9C-0C45183554C3}"/>
              </a:ext>
            </a:extLst>
          </p:cNvPr>
          <p:cNvSpPr/>
          <p:nvPr/>
        </p:nvSpPr>
        <p:spPr>
          <a:xfrm>
            <a:off x="365760" y="1188719"/>
            <a:ext cx="2407920" cy="45719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5AC1A0-A637-3E77-F345-0D360BF0E264}"/>
              </a:ext>
            </a:extLst>
          </p:cNvPr>
          <p:cNvSpPr/>
          <p:nvPr/>
        </p:nvSpPr>
        <p:spPr>
          <a:xfrm>
            <a:off x="43891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B98DCC-0669-101A-5ACE-65A616683787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Price Trend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1ACA72-98CA-C2D0-C0EB-B2B83FB48F30}"/>
              </a:ext>
            </a:extLst>
          </p:cNvPr>
          <p:cNvSpPr/>
          <p:nvPr/>
        </p:nvSpPr>
        <p:spPr>
          <a:xfrm>
            <a:off x="438912" y="1993391"/>
            <a:ext cx="1828800" cy="22890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over 5 years — identifies trend direction and volatility.</a:t>
            </a:r>
          </a:p>
          <a:p>
            <a:pPr marL="0" indent="0">
              <a:buNone/>
            </a:pPr>
            <a:endParaRPr lang="en-US" sz="1100" dirty="0">
              <a:solidFill>
                <a:srgbClr val="D0DC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dirty="0">
                <a:solidFill>
                  <a:schemeClr val="bg1"/>
                </a:solidFill>
              </a:rPr>
              <a:t>The Historical Price Trend graph shows how the stock price has changed over time.</a:t>
            </a:r>
          </a:p>
          <a:p>
            <a:endParaRPr lang="en-US" sz="11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dirty="0">
                <a:solidFill>
                  <a:schemeClr val="bg1"/>
                </a:solidFill>
              </a:rPr>
              <a:t>It helps identify long-term market movements and overall stock performance.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rgbClr val="D0DC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12170A-68CF-7F43-9C0C-E881BE318201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446321C-28E5-F589-1E0C-5BE64429941F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F4E17ED-F0B2-4743-3620-F1906B6FE356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A8780CD-F3E8-7E9C-9B26-0C6CD330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281" y="1188719"/>
            <a:ext cx="5557520" cy="309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55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F758E-8753-1B46-6833-C0CAE7AD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292E3B-5223-76DC-C012-FDB69523279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1037D2-AED5-1BD3-FCCC-26765E1136BB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235DC5-C86E-C7AF-F4B3-5C9B4F8564AF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3B5F9-74DB-7022-628C-CC425B7108EE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 Volume Analysis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FC2BBE-1896-2176-7E86-844C9D063097}"/>
              </a:ext>
            </a:extLst>
          </p:cNvPr>
          <p:cNvSpPr/>
          <p:nvPr/>
        </p:nvSpPr>
        <p:spPr>
          <a:xfrm>
            <a:off x="365760" y="1188719"/>
            <a:ext cx="2407920" cy="3158405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AEDBF6-DB48-05E7-5216-2842FECDC804}"/>
              </a:ext>
            </a:extLst>
          </p:cNvPr>
          <p:cNvSpPr/>
          <p:nvPr/>
        </p:nvSpPr>
        <p:spPr>
          <a:xfrm>
            <a:off x="438912" y="12801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90782A-69C9-5396-850C-50AFCF239431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 Volume Analysis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250736-B704-62DA-70A3-1082658F0476}"/>
              </a:ext>
            </a:extLst>
          </p:cNvPr>
          <p:cNvSpPr/>
          <p:nvPr/>
        </p:nvSpPr>
        <p:spPr>
          <a:xfrm>
            <a:off x="438912" y="1993391"/>
            <a:ext cx="2121408" cy="2463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over 5 years — identifies trend direction and volatility.</a:t>
            </a:r>
          </a:p>
          <a:p>
            <a:pPr marL="0" indent="0">
              <a:buNone/>
            </a:pPr>
            <a:endParaRPr lang="en-US" sz="11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Trading volume indicates the level of investor interest and market activity in a stock.</a:t>
            </a:r>
          </a:p>
          <a:p>
            <a:endParaRPr lang="en-IN" sz="1100" dirty="0">
              <a:solidFill>
                <a:schemeClr val="bg2"/>
              </a:solidFill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The graph helps identify periods of high demand, market momentum, and significant price movements.</a:t>
            </a:r>
          </a:p>
          <a:p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34A4746-A35C-E550-0E5E-8EAFA5A44985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7A9844F-D77B-9B27-515F-478A9AF35D26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4F567DE-EF10-7FC3-0142-FBBA7CD46C31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3026FF0-08C3-C505-3474-FA9D6C3C1847}"/>
              </a:ext>
            </a:extLst>
          </p:cNvPr>
          <p:cNvSpPr/>
          <p:nvPr/>
        </p:nvSpPr>
        <p:spPr>
          <a:xfrm>
            <a:off x="365760" y="1178096"/>
            <a:ext cx="2407920" cy="54863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74189D-8C94-7F38-5516-6D0B2D79C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1178096"/>
            <a:ext cx="5468970" cy="31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3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652F9-5A53-7E4C-AA63-DEB86E40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1E689B-AC9F-BCD4-C057-8F678B32129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C3BA5C-03F8-D5EA-A1C5-1173FAC8EB63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B8A5D6-426E-C7A3-CF17-F20FEC809053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082F40-ED88-4C90-06CB-90DCB4CA6A08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Average Chart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87DA36-0923-90CE-90E9-C3B7B3728B3A}"/>
              </a:ext>
            </a:extLst>
          </p:cNvPr>
          <p:cNvSpPr/>
          <p:nvPr/>
        </p:nvSpPr>
        <p:spPr>
          <a:xfrm>
            <a:off x="365760" y="1188720"/>
            <a:ext cx="2407920" cy="3041994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35B651-E14A-CA7C-1943-3380BE0707F6}"/>
              </a:ext>
            </a:extLst>
          </p:cNvPr>
          <p:cNvSpPr/>
          <p:nvPr/>
        </p:nvSpPr>
        <p:spPr>
          <a:xfrm>
            <a:off x="438912" y="12801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82558A-BCB3-E185-DF54-491F81379A62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Average Chart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83F48E-50A4-6B6A-3A92-84A7E9745062}"/>
              </a:ext>
            </a:extLst>
          </p:cNvPr>
          <p:cNvSpPr/>
          <p:nvPr/>
        </p:nvSpPr>
        <p:spPr>
          <a:xfrm>
            <a:off x="438912" y="1993391"/>
            <a:ext cx="1828800" cy="1792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200/50-day MAs overlaid on price — highlights trend reversals.</a:t>
            </a:r>
          </a:p>
          <a:p>
            <a:endParaRPr lang="en-US" sz="11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The Moving Average chart is used to identify the overall trend of stock prices over a period of time.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A76994-C98A-9105-5BBA-46525C3DF53A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651D34C-22DD-E06D-40E9-884070D349D4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C96984A-2601-D30D-EB08-0B4B82697056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46BD62-EA56-0C0E-2334-0573BAAAB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1178096"/>
            <a:ext cx="5510884" cy="3052618"/>
          </a:xfrm>
          <a:prstGeom prst="rect">
            <a:avLst/>
          </a:prstGeom>
        </p:spPr>
      </p:pic>
      <p:sp>
        <p:nvSpPr>
          <p:cNvPr id="13" name="Shape 15">
            <a:extLst>
              <a:ext uri="{FF2B5EF4-FFF2-40B4-BE49-F238E27FC236}">
                <a16:creationId xmlns:a16="http://schemas.microsoft.com/office/drawing/2014/main" id="{D73EBA8B-60AC-5BEC-27B7-0B9A8FC43191}"/>
              </a:ext>
            </a:extLst>
          </p:cNvPr>
          <p:cNvSpPr/>
          <p:nvPr/>
        </p:nvSpPr>
        <p:spPr>
          <a:xfrm>
            <a:off x="365760" y="1166919"/>
            <a:ext cx="2407920" cy="45719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235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2BD2D-B1EE-0C05-64A2-57DF96C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88621A-57CD-0B44-2F1D-C71DF743973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360983-7199-4338-028C-2D9461DA1579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3626CE-E1CA-AB4C-C4F1-BFA416E53CCA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E50F5D-5BAA-77F2-8162-31A49B02CC64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Heatmap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687A8D-B52A-AE56-F00B-D7720E7ED05C}"/>
              </a:ext>
            </a:extLst>
          </p:cNvPr>
          <p:cNvSpPr/>
          <p:nvPr/>
        </p:nvSpPr>
        <p:spPr>
          <a:xfrm>
            <a:off x="365760" y="1188720"/>
            <a:ext cx="2407920" cy="3041994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394FC8-1EC0-6B24-95C4-967FA11B584C}"/>
              </a:ext>
            </a:extLst>
          </p:cNvPr>
          <p:cNvSpPr/>
          <p:nvPr/>
        </p:nvSpPr>
        <p:spPr>
          <a:xfrm>
            <a:off x="438912" y="12801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E23060-0966-E7AF-20A3-C0CD024F3AEB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Heatmap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F05205-5CD9-1A42-6348-12D5840D209A}"/>
              </a:ext>
            </a:extLst>
          </p:cNvPr>
          <p:cNvSpPr/>
          <p:nvPr/>
        </p:nvSpPr>
        <p:spPr>
          <a:xfrm>
            <a:off x="438912" y="19933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 — Open/High/Low/Close relationships.</a:t>
            </a:r>
          </a:p>
          <a:p>
            <a:pPr algn="just"/>
            <a:endParaRPr lang="en-US" sz="11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IN" sz="1100" dirty="0">
                <a:solidFill>
                  <a:schemeClr val="bg2"/>
                </a:solidFill>
              </a:rPr>
              <a:t>It helps identify how strongly one feature is related to another using correlation values ranging from </a:t>
            </a:r>
            <a:r>
              <a:rPr lang="en-IN" sz="1100" b="1" dirty="0">
                <a:solidFill>
                  <a:schemeClr val="bg2"/>
                </a:solidFill>
              </a:rPr>
              <a:t>-1 to +1</a:t>
            </a:r>
            <a:r>
              <a:rPr lang="en-IN" sz="1100" dirty="0">
                <a:solidFill>
                  <a:schemeClr val="bg2"/>
                </a:solidFill>
              </a:rPr>
              <a:t>.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037552-E7BF-9DFE-8881-596C53ED2C1F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337F489-9D77-CF5E-2FCB-54B30EF7A199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6D26C40-1887-460E-900C-45C3D24DB89F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89C85CB7-B0A2-270D-7126-F048BDC21D27}"/>
              </a:ext>
            </a:extLst>
          </p:cNvPr>
          <p:cNvSpPr/>
          <p:nvPr/>
        </p:nvSpPr>
        <p:spPr>
          <a:xfrm>
            <a:off x="365760" y="1167935"/>
            <a:ext cx="2407920" cy="45719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32EA45-65C8-91FC-3CE6-7C55E69F8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20" y="1167934"/>
            <a:ext cx="5579443" cy="306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45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FEC8C-C63C-807C-0B7F-C7541576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D60607-10E7-5EBA-A60D-690E5582165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78A332F-75F9-F42E-0725-84DDE17D217B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150454-AD02-BD59-B5E5-0FEC404A1569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602822-B429-C77E-B345-4377A7DA2381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Distribution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04088E-A1F0-CFF8-E56F-51167F43C36B}"/>
              </a:ext>
            </a:extLst>
          </p:cNvPr>
          <p:cNvSpPr/>
          <p:nvPr/>
        </p:nvSpPr>
        <p:spPr>
          <a:xfrm>
            <a:off x="365760" y="1188720"/>
            <a:ext cx="2407920" cy="3041994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C16574-F27C-44CC-B0C3-29BCBEC60B8B}"/>
              </a:ext>
            </a:extLst>
          </p:cNvPr>
          <p:cNvSpPr/>
          <p:nvPr/>
        </p:nvSpPr>
        <p:spPr>
          <a:xfrm>
            <a:off x="438912" y="12801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E88C8C-4F58-BCD8-1ED4-ADC055AED9E1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Distribution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71DE86D-7E83-361D-2DA3-E16E81D06915}"/>
              </a:ext>
            </a:extLst>
          </p:cNvPr>
          <p:cNvSpPr/>
          <p:nvPr/>
        </p:nvSpPr>
        <p:spPr>
          <a:xfrm>
            <a:off x="438912" y="1993391"/>
            <a:ext cx="1828800" cy="1799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Positive / Neutral / Negative news proportions.</a:t>
            </a:r>
          </a:p>
          <a:p>
            <a:pPr algn="just"/>
            <a:endParaRPr lang="en-US" sz="11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IN" sz="1100" dirty="0">
                <a:solidFill>
                  <a:schemeClr val="bg2"/>
                </a:solidFill>
              </a:rPr>
              <a:t>The Sentiment Distribution chart shows the overall distribution of financial news sentiment </a:t>
            </a:r>
            <a:r>
              <a:rPr lang="en-IN" sz="1100" dirty="0" err="1">
                <a:solidFill>
                  <a:schemeClr val="bg2"/>
                </a:solidFill>
              </a:rPr>
              <a:t>analyzed</a:t>
            </a:r>
            <a:r>
              <a:rPr lang="en-IN" sz="1100" dirty="0">
                <a:solidFill>
                  <a:schemeClr val="bg2"/>
                </a:solidFill>
              </a:rPr>
              <a:t> using the </a:t>
            </a:r>
            <a:r>
              <a:rPr lang="en-IN" sz="1100" dirty="0" err="1">
                <a:solidFill>
                  <a:schemeClr val="bg2"/>
                </a:solidFill>
              </a:rPr>
              <a:t>FinBERT</a:t>
            </a:r>
            <a:r>
              <a:rPr lang="en-IN" sz="1100" dirty="0">
                <a:solidFill>
                  <a:schemeClr val="bg2"/>
                </a:solidFill>
              </a:rPr>
              <a:t> model.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A17D19C-EF82-8F82-7661-DAE176605BC8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DE7D4FB-83BB-90B3-9B10-96BB83143AED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45F72D7-8CA2-7F2C-9078-4EFC8DF224C8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0384251B-9809-DA33-C51D-00E8F17442ED}"/>
              </a:ext>
            </a:extLst>
          </p:cNvPr>
          <p:cNvSpPr/>
          <p:nvPr/>
        </p:nvSpPr>
        <p:spPr>
          <a:xfrm>
            <a:off x="365760" y="1167935"/>
            <a:ext cx="2407920" cy="45719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4C8615-9DD4-00CE-5137-1D786E1B6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0" y="1150454"/>
            <a:ext cx="4356445" cy="36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73047-6EFB-29DB-5BA2-F2EF5152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0B0768-0C5C-130B-A9C5-4E167B3D69F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CBF444-68D9-8746-3482-85C2F8797A1F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937BB7-3C05-DFC5-F0BA-832D1B64A3DF}"/>
              </a:ext>
            </a:extLst>
          </p:cNvPr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VISUALIZATIONS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EBEF29-95D0-9D79-2D04-6779DB757846}"/>
              </a:ext>
            </a:extLst>
          </p:cNvPr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vs Tomorrow</a:t>
            </a:r>
            <a:endParaRPr lang="en-US" sz="3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3BAA4B-B457-B9AE-E74F-1DCC4A794D1B}"/>
              </a:ext>
            </a:extLst>
          </p:cNvPr>
          <p:cNvSpPr/>
          <p:nvPr/>
        </p:nvSpPr>
        <p:spPr>
          <a:xfrm>
            <a:off x="365760" y="1188720"/>
            <a:ext cx="2407920" cy="3041994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C6B002-51A2-CEF2-6EFC-8D869BFAD5DE}"/>
              </a:ext>
            </a:extLst>
          </p:cNvPr>
          <p:cNvSpPr/>
          <p:nvPr/>
        </p:nvSpPr>
        <p:spPr>
          <a:xfrm>
            <a:off x="438912" y="12801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6B295F-CD4B-F8A3-CC14-47EB5C039D85}"/>
              </a:ext>
            </a:extLst>
          </p:cNvPr>
          <p:cNvSpPr/>
          <p:nvPr/>
        </p:nvSpPr>
        <p:spPr>
          <a:xfrm>
            <a:off x="438912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vs Tomorrow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C4721E-669B-57DB-C819-E8D7C9CB9CBF}"/>
              </a:ext>
            </a:extLst>
          </p:cNvPr>
          <p:cNvSpPr/>
          <p:nvPr/>
        </p:nvSpPr>
        <p:spPr>
          <a:xfrm>
            <a:off x="438912" y="1993392"/>
            <a:ext cx="1828800" cy="1869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OHLC bar chart comparing current and predicted prices. </a:t>
            </a:r>
          </a:p>
          <a:p>
            <a:endParaRPr lang="en-US" sz="11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100" dirty="0">
                <a:solidFill>
                  <a:schemeClr val="bg2"/>
                </a:solidFill>
              </a:rPr>
              <a:t>The Today vs Tomorrow Prediction chart compares the current day's stock prices with the predicted prices for the next trading day.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DCD8DD-F03D-FE32-61C1-32E92ACF4C37}"/>
              </a:ext>
            </a:extLst>
          </p:cNvPr>
          <p:cNvSpPr/>
          <p:nvPr/>
        </p:nvSpPr>
        <p:spPr>
          <a:xfrm>
            <a:off x="468172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3005B8B-57CF-CAEC-0E64-1A0FC0E3DFFE}"/>
              </a:ext>
            </a:extLst>
          </p:cNvPr>
          <p:cNvSpPr/>
          <p:nvPr/>
        </p:nvSpPr>
        <p:spPr>
          <a:xfrm>
            <a:off x="438912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5D7599D-3ACE-5127-AE7F-B5BAE5C0896A}"/>
              </a:ext>
            </a:extLst>
          </p:cNvPr>
          <p:cNvSpPr/>
          <p:nvPr/>
        </p:nvSpPr>
        <p:spPr>
          <a:xfrm>
            <a:off x="2560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25">
            <a:extLst>
              <a:ext uri="{FF2B5EF4-FFF2-40B4-BE49-F238E27FC236}">
                <a16:creationId xmlns:a16="http://schemas.microsoft.com/office/drawing/2014/main" id="{40D16A65-D0B1-B996-6126-9D53DBC06C6D}"/>
              </a:ext>
            </a:extLst>
          </p:cNvPr>
          <p:cNvSpPr/>
          <p:nvPr/>
        </p:nvSpPr>
        <p:spPr>
          <a:xfrm flipV="1">
            <a:off x="365760" y="1150666"/>
            <a:ext cx="2407920" cy="45719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ADC7A7-298C-C93C-08A3-AA1E3E06A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148311"/>
            <a:ext cx="5806440" cy="31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26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·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Model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IN" sz="1600" dirty="0">
                <a:solidFill>
                  <a:schemeClr val="bg2"/>
                </a:solidFill>
              </a:rPr>
              <a:t>The Hybrid LSTM–</a:t>
            </a:r>
            <a:r>
              <a:rPr lang="en-IN" sz="1600" dirty="0" err="1">
                <a:solidFill>
                  <a:schemeClr val="bg2"/>
                </a:solidFill>
              </a:rPr>
              <a:t>FinBERT</a:t>
            </a:r>
            <a:r>
              <a:rPr lang="en-IN" sz="1600" dirty="0">
                <a:solidFill>
                  <a:schemeClr val="bg2"/>
                </a:solidFill>
              </a:rPr>
              <a:t> model successfully predicted future stock prices using both historical market data and financial news sentiment. The results demonstrated that combining sentiment analysis with stock market data improves prediction quality.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9984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103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(Normalised Close Price Metrics)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79762"/>
              </p:ext>
            </p:extLst>
          </p:nvPr>
        </p:nvGraphicFramePr>
        <p:xfrm>
          <a:off x="365760" y="2423160"/>
          <a:ext cx="4242816" cy="2194560"/>
        </p:xfrm>
        <a:graphic>
          <a:graphicData uri="http://schemas.openxmlformats.org/drawingml/2006/table">
            <a:tbl>
              <a:tblPr/>
              <a:tblGrid>
                <a:gridCol w="138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8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RMSE ↓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MAE ↓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R² Score ↑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Only (Baseline)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B93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Technical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6E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+7.5%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0D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FinBERT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+9.7%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★ Hybrid (LSTM+FinBERT+RSI+MACD)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★ BEST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956E615E-D25C-E6B3-BF45-A15837C0C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560" y="2151454"/>
            <a:ext cx="4242817" cy="26465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· ADVANTAGES &amp; LIMITATIONS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5720" cy="3657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16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prediction accuracy by combining LSTM + FinBERT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both historical price data and real news sentiment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actionable BUY / SELL / HOLD recommendations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all 4 key price points: Open, High, Low, Close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application of AI in FinTech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 ensures functionality without GPU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365760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45720" cy="36576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16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markets remain highly unpredictable by nature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geopolitical events can override model signals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depends heavily on news data quality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headline used per prediction run currently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do not guarantee investment profits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retrains from scratch on each prediction request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6EFD">
              <a:alpha val="25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· FUTURE SCOPE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3347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Prediction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stock data and continuous model updates for instant price forecasts.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18872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188720"/>
            <a:ext cx="2633472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News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0299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news scraping from multiple sources with real-time FinBERT processing.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98464" y="118872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98464" y="1188720"/>
            <a:ext cx="2633472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08192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Multi-Stock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08192" y="202996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analysis across a portfolio of 100+ stocks with cross-correlation insights.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63240"/>
            <a:ext cx="2633472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&amp; Web 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9044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deployment as a responsive web and mobile application accessible to all investors.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82112" y="306324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3063240"/>
            <a:ext cx="263347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9184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Management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9044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portfolio allocation and rebalancing recommendations based on prediction confidence.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98464" y="3063240"/>
            <a:ext cx="2633472" cy="1664208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98464" y="3063240"/>
            <a:ext cx="2633472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08192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AI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08192" y="39044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Transformer models (GPT-4), reinforcement learning, and ensemble methods.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Strip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3" name="BadgeBg"/>
          <p:cNvSpPr/>
          <p:nvPr/>
        </p:nvSpPr>
        <p:spPr>
          <a:xfrm>
            <a:off x="457200" y="18288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</a:ln>
        </p:spPr>
      </p:sp>
      <p:sp>
        <p:nvSpPr>
          <p:cNvPr id="4" name="BadgeLabel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12 · REFERENCES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References</a:t>
            </a:r>
          </a:p>
        </p:txBody>
      </p:sp>
      <p:sp>
        <p:nvSpPr>
          <p:cNvPr id="6" name="LeftCard"/>
          <p:cNvSpPr/>
          <p:nvPr/>
        </p:nvSpPr>
        <p:spPr>
          <a:xfrm>
            <a:off x="365760" y="1143000"/>
            <a:ext cx="4115040" cy="374904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LeftBorder"/>
          <p:cNvSpPr/>
          <p:nvPr/>
        </p:nvSpPr>
        <p:spPr>
          <a:xfrm>
            <a:off x="365760" y="1143000"/>
            <a:ext cx="45720" cy="374904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8" name="LeftHeader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📚  Research Papers &amp; Libraries</a:t>
            </a:r>
          </a:p>
        </p:txBody>
      </p:sp>
      <p:sp>
        <p:nvSpPr>
          <p:cNvPr id="9" name="Ref1"/>
          <p:cNvSpPr/>
          <p:nvPr/>
        </p:nvSpPr>
        <p:spPr>
          <a:xfrm>
            <a:off x="548640" y="1554480"/>
            <a:ext cx="384048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[1] Hochreiter &amp; Schmidhuber (1997)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Long Short-Term Memory. Neural Computation, 9(8), 1735–1780.</a:t>
            </a:r>
          </a:p>
        </p:txBody>
      </p:sp>
      <p:sp>
        <p:nvSpPr>
          <p:cNvPr id="10" name="Ref2"/>
          <p:cNvSpPr/>
          <p:nvPr/>
        </p:nvSpPr>
        <p:spPr>
          <a:xfrm>
            <a:off x="548640" y="2149320"/>
            <a:ext cx="384048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FFD166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[2] Yang et al. (2020) — FinBERT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FinBERT: A Pre-Trained Financial Language Representation Model.</a:t>
            </a:r>
          </a:p>
        </p:txBody>
      </p:sp>
      <p:sp>
        <p:nvSpPr>
          <p:cNvPr id="11" name="Ref3"/>
          <p:cNvSpPr/>
          <p:nvPr/>
        </p:nvSpPr>
        <p:spPr>
          <a:xfrm>
            <a:off x="548640" y="2744160"/>
            <a:ext cx="3840480" cy="548640"/>
          </a:xfrm>
          <a:prstGeom prst="rect">
            <a:avLst/>
          </a:prstGeom>
          <a:solidFill>
            <a:srgbClr val="0D2137"/>
          </a:solidFill>
          <a:ln w="9525">
            <a:solidFill>
              <a:srgbClr val="9B59B6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B59B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[3] Devlin et al. (2019) — BERT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BERT: Pre-training of Deep Bidirectional Transformers for Language Understanding.</a:t>
            </a:r>
          </a:p>
        </p:txBody>
      </p:sp>
      <p:sp>
        <p:nvSpPr>
          <p:cNvPr id="12" name="Ref4"/>
          <p:cNvSpPr/>
          <p:nvPr/>
        </p:nvSpPr>
        <p:spPr>
          <a:xfrm>
            <a:off x="548640" y="3339000"/>
            <a:ext cx="384048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E74C3C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[4] Fischer &amp; Krauss (2018)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Deep learning with long short-term memory networks for financial market predictions.</a:t>
            </a:r>
          </a:p>
        </p:txBody>
      </p:sp>
      <p:sp>
        <p:nvSpPr>
          <p:cNvPr id="25" name="Ref5"/>
          <p:cNvSpPr/>
          <p:nvPr/>
        </p:nvSpPr>
        <p:spPr>
          <a:xfrm>
            <a:off x="548640" y="3842640"/>
            <a:ext cx="3840480" cy="45720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3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[5] Bollen et al. (2011)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Twitter mood predicts the stock market. Journal of Computational Science.</a:t>
            </a:r>
          </a:p>
        </p:txBody>
      </p:sp>
      <p:sp>
        <p:nvSpPr>
          <p:cNvPr id="13" name="RightCard"/>
          <p:cNvSpPr/>
          <p:nvPr/>
        </p:nvSpPr>
        <p:spPr>
          <a:xfrm>
            <a:off x="4663440" y="1143000"/>
            <a:ext cx="4114800" cy="374904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RightBorder"/>
          <p:cNvSpPr/>
          <p:nvPr/>
        </p:nvSpPr>
        <p:spPr>
          <a:xfrm>
            <a:off x="4663440" y="1143000"/>
            <a:ext cx="45720" cy="3749040"/>
          </a:xfrm>
          <a:prstGeom prst="rect">
            <a:avLst/>
          </a:prstGeom>
          <a:solidFill>
            <a:srgbClr val="FFD166"/>
          </a:solidFill>
        </p:spPr>
      </p:sp>
      <p:sp>
        <p:nvSpPr>
          <p:cNvPr id="15" name="RightHeader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🔧  Tools &amp; Technologies</a:t>
            </a:r>
          </a:p>
        </p:txBody>
      </p:sp>
      <p:sp>
        <p:nvSpPr>
          <p:cNvPr id="16" name="Tool1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FFD166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🐍  Python 3.10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— Core programming language</a:t>
            </a:r>
          </a:p>
        </p:txBody>
      </p:sp>
      <p:sp>
        <p:nvSpPr>
          <p:cNvPr id="17" name="Tool2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E74C3C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🧠  TensorFlow / Keras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— LSTM model building</a:t>
            </a:r>
          </a:p>
        </p:txBody>
      </p:sp>
      <p:sp>
        <p:nvSpPr>
          <p:cNvPr id="18" name="Tool3"/>
          <p:cNvSpPr/>
          <p:nvPr/>
        </p:nvSpPr>
        <p:spPr>
          <a:xfrm>
            <a:off x="4846320" y="24688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4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🤗  HuggingFace Transformers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— FinBERT sentiment model</a:t>
            </a:r>
          </a:p>
        </p:txBody>
      </p:sp>
      <p:sp>
        <p:nvSpPr>
          <p:cNvPr id="19" name="Tool4"/>
          <p:cNvSpPr/>
          <p:nvPr/>
        </p:nvSpPr>
        <p:spPr>
          <a:xfrm>
            <a:off x="4846320" y="29260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9B59B6">
                <a:alpha val="5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9B59B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📈  yFinance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— Historical stock data (Yahoo Finance API)</a:t>
            </a:r>
          </a:p>
        </p:txBody>
      </p:sp>
      <p:sp>
        <p:nvSpPr>
          <p:cNvPr id="20" name="Tool5"/>
          <p:cNvSpPr/>
          <p:nvPr/>
        </p:nvSpPr>
        <p:spPr>
          <a:xfrm>
            <a:off x="4846320" y="33832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FFD166">
                <a:alpha val="30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🧮  Pandas / NumPy / Scikit-learn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Data processing, scaling &amp; evaluation metrics</a:t>
            </a:r>
          </a:p>
        </p:txBody>
      </p:sp>
      <p:sp>
        <p:nvSpPr>
          <p:cNvPr id="21" name="Tool6"/>
          <p:cNvSpPr/>
          <p:nvPr/>
        </p:nvSpPr>
        <p:spPr>
          <a:xfrm>
            <a:off x="4846320" y="3840480"/>
            <a:ext cx="3840480" cy="41148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A7">
                <a:alpha val="25000"/>
              </a:srgbClr>
            </a:solidFill>
          </a:ln>
        </p:spPr>
        <p:txBody>
          <a:bodyPr wrap="square" lIns="114300" tIns="91440" rIns="1143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🎨  Matplotlib / Seaborn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 — Data visualization &amp; charts</a:t>
            </a:r>
          </a:p>
        </p:txBody>
      </p:sp>
      <p:sp>
        <p:nvSpPr>
          <p:cNvPr id="22" name="FooterBg"/>
          <p:cNvSpPr/>
          <p:nvPr/>
        </p:nvSpPr>
        <p:spPr>
          <a:xfrm>
            <a:off x="0" y="5007096"/>
            <a:ext cx="9144000" cy="136404"/>
          </a:xfrm>
          <a:prstGeom prst="rect">
            <a:avLst/>
          </a:prstGeom>
          <a:solidFill>
            <a:srgbClr val="00C9A7">
              <a:alpha val="15000"/>
            </a:srgbClr>
          </a:solidFill>
          <a:ln w="0">
            <a:noFill/>
          </a:ln>
        </p:spPr>
      </p:sp>
      <p:sp>
        <p:nvSpPr>
          <p:cNvPr id="23" name="FooterText"/>
          <p:cNvSpPr/>
          <p:nvPr/>
        </p:nvSpPr>
        <p:spPr>
          <a:xfrm>
            <a:off x="457200" y="4984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BA0B8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Ashwini Patel  ·  251370680014  ·  PG Diploma in Data Science  ·  Gujarat Technological University  ·  2025–26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· 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" cy="1280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LSTM + FinBERT Stock Price Prediction System successfully demonstrates that combining deep learning-based time-series forecasting with NLP-driven sentiment analysis produces measurably better predictions than either method alone — achieving R² = 0.941 with the Hybrid model vs 0.812 for LSTM baseline.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69748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06040"/>
            <a:ext cx="45720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974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Achievement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stacked LSTM with FinBERT sentiment fusion, predicting 4 simultaneous OHLC price targets.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269748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606040"/>
            <a:ext cx="45720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6974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Contribution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integration of Transformers + Deep Learning in financial forecasting domain.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697480" cy="1508760"/>
          </a:xfrm>
          <a:prstGeom prst="rect">
            <a:avLst/>
          </a:prstGeom>
          <a:solidFill>
            <a:srgbClr val="112240"/>
          </a:solidFill>
          <a:ln w="6350">
            <a:solidFill>
              <a:srgbClr val="1B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606040"/>
            <a:ext cx="45720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974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Potential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production-ready investment analysis tool with live data and mobile deployment.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B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Patel  ·  251370680014  ·  PG Diploma in Data Science  ·  Gujarat Technological University  ·  2025–26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2323</Words>
  <Application>Microsoft Office PowerPoint</Application>
  <PresentationFormat>On-screen Show (16:9)</PresentationFormat>
  <Paragraphs>416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Stock Price Prediction — LSTM + FinBERT</dc:title>
  <dc:subject>PptxGenJS Presentation</dc:subject>
  <dc:creator>Ashwini Patel</dc:creator>
  <cp:lastModifiedBy>Dhruv Patel</cp:lastModifiedBy>
  <cp:revision>13</cp:revision>
  <dcterms:created xsi:type="dcterms:W3CDTF">2026-06-07T17:58:41Z</dcterms:created>
  <dcterms:modified xsi:type="dcterms:W3CDTF">2026-06-08T05:09:24Z</dcterms:modified>
</cp:coreProperties>
</file>